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66" r:id="rId35"/>
    <p:sldId id="267" r:id="rId36"/>
    <p:sldId id="268" r:id="rId37"/>
    <p:sldId id="269" r:id="rId38"/>
    <p:sldId id="270" r:id="rId39"/>
    <p:sldId id="293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7359f896-71e2-4dae-b8a3-15cdf97f2f10::" providerId="AD" clId="Web-{D258887E-F83F-3E54-DB74-0CBF800C0561}"/>
    <pc:docChg chg="modSld">
      <pc:chgData name="Guest User" userId="S::urn:spo:tenantanon#7359f896-71e2-4dae-b8a3-15cdf97f2f10::" providerId="AD" clId="Web-{D258887E-F83F-3E54-DB74-0CBF800C0561}" dt="2026-09-02T17:25:10.878" v="20" actId="14100"/>
      <pc:docMkLst>
        <pc:docMk/>
      </pc:docMkLst>
    </pc:docChg>
  </pc:docChgLst>
  <pc:docChgLst>
    <pc:chgData name="Guest User" userId="S::urn:spo:tenantanon#7359f896-71e2-4dae-b8a3-15cdf97f2f10::" providerId="AD" clId="Web-{00000000-0000-0000-0000-000000000000}"/>
    <pc:docChg chg="delSld modSld">
      <pc:chgData name="Guest User" userId="S::urn:spo:tenantanon#7359f896-71e2-4dae-b8a3-15cdf97f2f10::" providerId="AD" clId="Web-{00000000-0000-0000-0000-000000000000}" dt="2026-09-02T17:06:03.412" v="3" actId="20577"/>
      <pc:docMkLst>
        <pc:docMk/>
      </pc:docMkLst>
    </pc:docChg>
  </pc:docChgLst>
  <pc:docChgLst>
    <pc:chgData name="saisrilaxmi7735@gmail.com" userId="716224477d2833b9" providerId="LiveId" clId="{A0CF0F2F-E5F5-4738-A027-41CF3CFA40FB}"/>
    <pc:docChg chg="undo custSel modSld">
      <pc:chgData name="saisrilaxmi7735@gmail.com" userId="716224477d2833b9" providerId="LiveId" clId="{A0CF0F2F-E5F5-4738-A027-41CF3CFA40FB}" dt="2026-09-30T08:00:54.185" v="83" actId="14100"/>
      <pc:docMkLst>
        <pc:docMk/>
      </pc:docMkLst>
      <pc:sldChg chg="addSp delSp modSp mod">
        <pc:chgData name="saisrilaxmi7735@gmail.com" userId="716224477d2833b9" providerId="LiveId" clId="{A0CF0F2F-E5F5-4738-A027-41CF3CFA40FB}" dt="2026-09-30T08:00:54.185" v="83" actId="14100"/>
        <pc:sldMkLst>
          <pc:docMk/>
          <pc:sldMk cId="0" sldId="268"/>
        </pc:sldMkLst>
        <pc:spChg chg="mod">
          <ac:chgData name="saisrilaxmi7735@gmail.com" userId="716224477d2833b9" providerId="LiveId" clId="{A0CF0F2F-E5F5-4738-A027-41CF3CFA40FB}" dt="2026-09-30T07:57:38.178" v="5" actId="14100"/>
          <ac:spMkLst>
            <pc:docMk/>
            <pc:sldMk cId="0" sldId="268"/>
            <ac:spMk id="12" creationId="{00000000-0000-0000-0000-000000000000}"/>
          </ac:spMkLst>
        </pc:spChg>
        <pc:spChg chg="mod">
          <ac:chgData name="saisrilaxmi7735@gmail.com" userId="716224477d2833b9" providerId="LiveId" clId="{A0CF0F2F-E5F5-4738-A027-41CF3CFA40FB}" dt="2026-09-30T07:57:44.275" v="6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saisrilaxmi7735@gmail.com" userId="716224477d2833b9" providerId="LiveId" clId="{A0CF0F2F-E5F5-4738-A027-41CF3CFA40FB}" dt="2026-09-30T07:57:48.440" v="7" actId="1076"/>
          <ac:spMkLst>
            <pc:docMk/>
            <pc:sldMk cId="0" sldId="268"/>
            <ac:spMk id="14" creationId="{00000000-0000-0000-0000-000000000000}"/>
          </ac:spMkLst>
        </pc:spChg>
        <pc:spChg chg="del mod">
          <ac:chgData name="saisrilaxmi7735@gmail.com" userId="716224477d2833b9" providerId="LiveId" clId="{A0CF0F2F-E5F5-4738-A027-41CF3CFA40FB}" dt="2026-09-30T07:54:17.148" v="2" actId="478"/>
          <ac:spMkLst>
            <pc:docMk/>
            <pc:sldMk cId="0" sldId="268"/>
            <ac:spMk id="16" creationId="{00000000-0000-0000-0000-000000000000}"/>
          </ac:spMkLst>
        </pc:spChg>
        <pc:graphicFrameChg chg="mod">
          <ac:chgData name="saisrilaxmi7735@gmail.com" userId="716224477d2833b9" providerId="LiveId" clId="{A0CF0F2F-E5F5-4738-A027-41CF3CFA40FB}" dt="2026-09-30T07:57:54.155" v="8" actId="1076"/>
          <ac:graphicFrameMkLst>
            <pc:docMk/>
            <pc:sldMk cId="0" sldId="268"/>
            <ac:graphicFrameMk id="15" creationId="{00000000-0000-0000-0000-000000000000}"/>
          </ac:graphicFrameMkLst>
        </pc:graphicFrameChg>
        <pc:graphicFrameChg chg="add mod modGraphic">
          <ac:chgData name="saisrilaxmi7735@gmail.com" userId="716224477d2833b9" providerId="LiveId" clId="{A0CF0F2F-E5F5-4738-A027-41CF3CFA40FB}" dt="2026-09-30T08:00:54.185" v="83" actId="14100"/>
          <ac:graphicFrameMkLst>
            <pc:docMk/>
            <pc:sldMk cId="0" sldId="268"/>
            <ac:graphicFrameMk id="21" creationId="{2640E0D3-47EC-3C2C-8017-A535E4AC4D90}"/>
          </ac:graphicFrameMkLst>
        </pc:graphicFrameChg>
      </pc:sldChg>
    </pc:docChg>
  </pc:docChgLst>
  <pc:docChgLst>
    <pc:chgData name="Guest User" userId="S::urn:spo:tenantanon#7359f896-71e2-4dae-b8a3-15cdf97f2f10::" providerId="AD" clId="Web-{EA5A0285-8CBF-2DC0-A03C-C10DCAEE058C}"/>
    <pc:docChg chg="modSld">
      <pc:chgData name="Guest User" userId="S::urn:spo:tenantanon#7359f896-71e2-4dae-b8a3-15cdf97f2f10::" providerId="AD" clId="Web-{EA5A0285-8CBF-2DC0-A03C-C10DCAEE058C}" dt="2026-09-02T17:02:16.781" v="35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drive.google.com/file/d/1-T-Qv0u7PWdYSrMmEYHmQOtL0HpfTMlF/view?usp=shar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>
                <a:solidFill>
                  <a:srgbClr val="FF0000"/>
                </a:solidFill>
                <a:latin typeface="Tw Cen MT" pitchFamily="34" charset="0"/>
                <a:ea typeface="+mj-ea"/>
                <a:cs typeface="+mj-cs"/>
              </a:rPr>
              <a:t>DBMS Cornerstone Project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Student Hostel Management System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</a:b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Automated Room Allocation &amp; Fee Tracking</a:t>
            </a:r>
            <a:endParaRPr kumimoji="0" lang="en-IN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w Cen MT" pitchFamily="34" charset="0"/>
              <a:ea typeface="+mj-ea"/>
              <a:cs typeface="+mj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809588" y="4797152"/>
            <a:ext cx="10358510" cy="141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Nunna Sai Sri Laxmi  ·  25B11CS682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>
                <a:solidFill>
                  <a:srgbClr val="002060"/>
                </a:solidFill>
                <a:latin typeface="Tw Cen MT" pitchFamily="34" charset="0"/>
              </a:rPr>
              <a:t>Kamuju Sree Reshma Laxmi  ·  25B11CS385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Bheemireddy Aswini  ·  25B11CS107</a:t>
            </a:r>
            <a:endParaRPr lang="en-US" sz="1600">
              <a:solidFill>
                <a:srgbClr val="002060"/>
              </a:solidFill>
              <a:latin typeface="Tw Cen MT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Medepalli Akshaya Keerthana  ·  25B11CS592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Problem statement &amp; requirement analysis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Objectives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Functional &amp; non-functional requirements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End users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ER design — entities, attributes, keys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Relationships &amp; cardinality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Normalization — 1NF, 2NF, 3NF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SQL implementation — DDL, data &amp; queries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Anticipated questions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200000" y="116632"/>
            <a:ext cx="97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The Real-World 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085" y="2000000"/>
            <a:ext cx="10515600" cy="409329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b="1">
                <a:solidFill>
                  <a:srgbClr val="0070C0"/>
                </a:solidFill>
              </a:rPr>
              <a:t>Room allocation errors — </a:t>
            </a:r>
            <a:r>
              <a:rPr lang="en-US" sz="2000"/>
              <a:t>Manual assignment without a real-time occupancy check leads to overbooking or beds wrongly marked free.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b="1">
                <a:solidFill>
                  <a:srgbClr val="0070C0"/>
                </a:solidFill>
              </a:rPr>
              <a:t>Delayed fee tracking — </a:t>
            </a:r>
            <a:r>
              <a:rPr lang="en-US" sz="2000"/>
              <a:t>Dues are noted on paper with no single source of truth — defaulters are caught too late.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b="1">
                <a:solidFill>
                  <a:srgbClr val="0070C0"/>
                </a:solidFill>
              </a:rPr>
              <a:t>Untracked complaints — </a:t>
            </a:r>
            <a:r>
              <a:rPr lang="en-US" sz="2000"/>
              <a:t>Complaints are logged informally with no defined status, so resolution isn't guaranteed.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b="1">
                <a:solidFill>
                  <a:srgbClr val="0070C0"/>
                </a:solidFill>
              </a:rPr>
              <a:t>No visitor record — </a:t>
            </a:r>
            <a:r>
              <a:rPr lang="en-US" sz="2000"/>
              <a:t>Walk-in visitors go unlogged — an administrative gap and a security risk.</a:t>
            </a: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869085" y="950000"/>
            <a:ext cx="105156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800" i="1">
                <a:solidFill>
                  <a:srgbClr val="595959"/>
                </a:solidFill>
              </a:rPr>
              <a:t>Why manual hostel administration breaks down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200000" y="116632"/>
            <a:ext cx="97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Why This Project Is Needed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085" y="2000000"/>
            <a:ext cx="10515600" cy="409329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/>
              <a:t>Manual systems don't scale — error rates in allocation and fee reconciliation grow with hostel strength.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/>
              <a:t>A centralised database removes duplicate/inconsistent records via primary keys, foreign keys, and 3NF normalization.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/>
              <a:t>Gives the warden/admin a live, queryable picture of occupancy, dues, and complaint backlog — not a static paper trail.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/>
              <a:t>Creates an audit trail (who paid what and when, who visited whom and when) that manual logs cannot guarantee.</a:t>
            </a: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869085" y="950000"/>
            <a:ext cx="105156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800" i="1">
                <a:solidFill>
                  <a:srgbClr val="595959"/>
                </a:solidFill>
              </a:rPr>
              <a:t>Justification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Automate student registration with a single authoritative record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Automate room allotment based on real-time capacity &amp; availability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Track fee payments with due dates and live status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Structured complaint workflow: Open → In Progress → Resolved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Maintain a visitor log for accountability &amp; security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Normalize schema to 3NF; automate via joins, aggregates, triggers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Requirements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61876"/>
            <a:ext cx="5334000" cy="4531419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0070C0"/>
                </a:solidFill>
              </a:rPr>
              <a:t>Functional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Register, update, search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Auto-allot rooms; update occupancy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Record fee payments &amp; status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File &amp; track complaints to resolution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Log visitor entry / exit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Generate reports via joins &amp; aggregates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Triggers keep room status consistent</a:t>
            </a:r>
          </a:p>
        </p:txBody>
      </p:sp>
      <p:sp>
        <p:nvSpPr>
          <p:cNvPr id="21" name="Non-functional Box"/>
          <p:cNvSpPr txBox="1">
            <a:spLocks/>
          </p:cNvSpPr>
          <p:nvPr/>
        </p:nvSpPr>
        <p:spPr>
          <a:xfrm>
            <a:off x="6172200" y="1561876"/>
            <a:ext cx="5334000" cy="45314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0070C0"/>
                </a:solidFill>
              </a:rPr>
              <a:t>Non-functional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Data integrity — PK/FK, CHECK, UNIQUE constraints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Security — role-based access for wardens vs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Reliability during peak periods (admissions, dues)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Performance on availability &amp; fee-status lookups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Usability for non-technical hostel staff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Scalability as blocks, rooms, students grow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End Users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30" name="Us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537922"/>
              </p:ext>
            </p:extLst>
          </p:nvPr>
        </p:nvGraphicFramePr>
        <p:xfrm>
          <a:off x="869085" y="1376401"/>
          <a:ext cx="10637114" cy="4716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6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808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FFFFFF"/>
                          </a:solidFill>
                        </a:rPr>
                        <a:t>User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FFFFFF"/>
                          </a:solidFill>
                        </a:rPr>
                        <a:t>Interacts with the system to…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61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Hostel Warden / 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Register students, allot rooms, update complaints, verify fees, generate 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61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Students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View room, fee status, complaint status; file new complaints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61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Accounts / Fee office staff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Record fee payments and track dues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61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Security / Gate staff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Log visitor entries and exits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61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System Administrator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Manage user accounts, backups, configuration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Relational Schema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07368" y="1268760"/>
            <a:ext cx="11233248" cy="482453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>
                <a:solidFill>
                  <a:srgbClr val="B45F06"/>
                </a:solidFill>
                <a:ea typeface="Calibri"/>
                <a:cs typeface="Calibri"/>
              </a:rPr>
              <a:t>Warden  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Warden_ID</a:t>
            </a:r>
            <a:r>
              <a:rPr lang="en-IN" sz="2400">
                <a:ea typeface="Calibri"/>
                <a:cs typeface="Calibri"/>
              </a:rPr>
              <a:t>, Name, </a:t>
            </a:r>
            <a:r>
              <a:rPr lang="en-IN" sz="2400" err="1">
                <a:ea typeface="Calibri"/>
                <a:cs typeface="Calibri"/>
              </a:rPr>
              <a:t>Contact_No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Block_Assigned</a:t>
            </a:r>
            <a:r>
              <a:rPr lang="en-IN" sz="2400">
                <a:ea typeface="Calibri"/>
                <a:cs typeface="Calibri"/>
              </a:rPr>
              <a:t>)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>
                <a:solidFill>
                  <a:srgbClr val="38761D"/>
                </a:solidFill>
                <a:ea typeface="Calibri"/>
                <a:cs typeface="Calibri"/>
              </a:rPr>
              <a:t>Room 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Room_ID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Room_No</a:t>
            </a:r>
            <a:r>
              <a:rPr lang="en-IN" sz="2400">
                <a:ea typeface="Calibri"/>
                <a:cs typeface="Calibri"/>
              </a:rPr>
              <a:t>, Block, Capacity, </a:t>
            </a:r>
            <a:r>
              <a:rPr lang="en-IN" sz="2400" err="1">
                <a:ea typeface="Calibri"/>
                <a:cs typeface="Calibri"/>
              </a:rPr>
              <a:t>Occupied_Count</a:t>
            </a:r>
            <a:r>
              <a:rPr lang="en-IN" sz="2400">
                <a:ea typeface="Calibri"/>
                <a:cs typeface="Calibri"/>
              </a:rPr>
              <a:t>, Status, </a:t>
            </a:r>
            <a:r>
              <a:rPr lang="en-IN" sz="2400" err="1">
                <a:ea typeface="Calibri"/>
                <a:cs typeface="Calibri"/>
              </a:rPr>
              <a:t>Warden_ID</a:t>
            </a:r>
            <a:r>
              <a:rPr lang="en-IN" sz="2400">
                <a:ea typeface="Calibri"/>
                <a:cs typeface="Calibri"/>
              </a:rPr>
              <a:t>(FK))</a:t>
            </a:r>
            <a:endParaRPr lang="en-IN"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>
                <a:solidFill>
                  <a:srgbClr val="1155CC"/>
                </a:solidFill>
                <a:ea typeface="Calibri"/>
                <a:cs typeface="Calibri"/>
              </a:rPr>
              <a:t>Student 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Student_ID</a:t>
            </a:r>
            <a:r>
              <a:rPr lang="en-IN" sz="2400">
                <a:ea typeface="Calibri"/>
                <a:cs typeface="Calibri"/>
              </a:rPr>
              <a:t>, Name, </a:t>
            </a:r>
            <a:r>
              <a:rPr lang="en-IN" sz="2400" err="1">
                <a:ea typeface="Calibri"/>
                <a:cs typeface="Calibri"/>
              </a:rPr>
              <a:t>Contact_No</a:t>
            </a:r>
            <a:r>
              <a:rPr lang="en-IN" sz="2400">
                <a:ea typeface="Calibri"/>
                <a:cs typeface="Calibri"/>
              </a:rPr>
              <a:t>, Email, </a:t>
            </a:r>
            <a:r>
              <a:rPr lang="en-IN" sz="2400" err="1">
                <a:ea typeface="Calibri"/>
                <a:cs typeface="Calibri"/>
              </a:rPr>
              <a:t>Room_ID</a:t>
            </a:r>
            <a:r>
              <a:rPr lang="en-IN" sz="2400">
                <a:ea typeface="Calibri"/>
                <a:cs typeface="Calibri"/>
              </a:rPr>
              <a:t>(FK))</a:t>
            </a:r>
            <a:endParaRPr lang="en-IN"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 err="1">
                <a:solidFill>
                  <a:srgbClr val="674EA7"/>
                </a:solidFill>
                <a:ea typeface="Calibri"/>
                <a:cs typeface="Calibri"/>
              </a:rPr>
              <a:t>Fee_Payment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Payment_ID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Student_ID</a:t>
            </a:r>
            <a:r>
              <a:rPr lang="en-IN" sz="2400">
                <a:ea typeface="Calibri"/>
                <a:cs typeface="Calibri"/>
              </a:rPr>
              <a:t>(FK), Amount, </a:t>
            </a:r>
            <a:r>
              <a:rPr lang="en-IN" sz="2400" err="1">
                <a:ea typeface="Calibri"/>
                <a:cs typeface="Calibri"/>
              </a:rPr>
              <a:t>Due_Date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Payment_Date</a:t>
            </a:r>
            <a:r>
              <a:rPr lang="en-IN" sz="2400">
                <a:ea typeface="Calibri"/>
                <a:cs typeface="Calibri"/>
              </a:rPr>
              <a:t>, Status)</a:t>
            </a:r>
            <a:endParaRPr lang="en-IN"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>
                <a:solidFill>
                  <a:srgbClr val="A61C00"/>
                </a:solidFill>
                <a:ea typeface="Calibri"/>
                <a:cs typeface="Calibri"/>
              </a:rPr>
              <a:t>Complaint 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Complaint_ID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Student_ID</a:t>
            </a:r>
            <a:r>
              <a:rPr lang="en-IN" sz="2400">
                <a:ea typeface="Calibri"/>
                <a:cs typeface="Calibri"/>
              </a:rPr>
              <a:t>(FK), </a:t>
            </a:r>
            <a:r>
              <a:rPr lang="en-IN" sz="2400" err="1">
                <a:ea typeface="Calibri"/>
                <a:cs typeface="Calibri"/>
              </a:rPr>
              <a:t>Warden_ID</a:t>
            </a:r>
            <a:r>
              <a:rPr lang="en-IN" sz="2400">
                <a:ea typeface="Calibri"/>
                <a:cs typeface="Calibri"/>
              </a:rPr>
              <a:t>(FK), Description, Status,   </a:t>
            </a:r>
            <a:r>
              <a:rPr lang="en-IN" sz="2400" err="1">
                <a:ea typeface="Calibri"/>
                <a:cs typeface="Calibri"/>
              </a:rPr>
              <a:t>Date_Filed</a:t>
            </a:r>
            <a:r>
              <a:rPr lang="en-IN" sz="2400">
                <a:ea typeface="Calibri"/>
                <a:cs typeface="Calibri"/>
              </a:rPr>
              <a:t>)</a:t>
            </a:r>
            <a:endParaRPr lang="en-IN"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>
                <a:solidFill>
                  <a:srgbClr val="990000"/>
                </a:solidFill>
                <a:ea typeface="Calibri"/>
                <a:cs typeface="Calibri"/>
              </a:rPr>
              <a:t>Visitor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Visitor_ID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Student_ID</a:t>
            </a:r>
            <a:r>
              <a:rPr lang="en-IN" sz="2400">
                <a:ea typeface="Calibri"/>
                <a:cs typeface="Calibri"/>
              </a:rPr>
              <a:t>(FK), Name, </a:t>
            </a:r>
            <a:r>
              <a:rPr lang="en-IN" sz="2400" err="1">
                <a:ea typeface="Calibri"/>
                <a:cs typeface="Calibri"/>
              </a:rPr>
              <a:t>Contact_No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Visit_Date</a:t>
            </a:r>
            <a:r>
              <a:rPr lang="en-IN" sz="2400">
                <a:ea typeface="Calibri"/>
                <a:cs typeface="Calibri"/>
              </a:rPr>
              <a:t>, Purpose)</a:t>
            </a:r>
            <a:endParaRPr lang="en-IN"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>
              <a:ea typeface="Calibri"/>
              <a:cs typeface="Calibri"/>
            </a:endParaRP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869085" y="950000"/>
            <a:ext cx="10515600" cy="45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800" i="1">
                <a:solidFill>
                  <a:srgbClr val="595959"/>
                </a:solidFill>
              </a:rPr>
              <a:t>Six tables mapped from the ER model — underlined = primary key, FK = foreign key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8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Entity-Relationship Diagram</a:t>
            </a: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837770" y="866493"/>
            <a:ext cx="10526805" cy="7689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i="1" dirty="0">
                <a:solidFill>
                  <a:srgbClr val="595959"/>
                </a:solidFill>
                <a:ea typeface="Calibri"/>
                <a:cs typeface="Calibri"/>
              </a:rPr>
              <a:t>Link:</a:t>
            </a:r>
            <a:r>
              <a:rPr lang="en-US" dirty="0">
                <a:solidFill>
                  <a:srgbClr val="595959"/>
                </a:solidFill>
                <a:ea typeface="+mn-lt"/>
                <a:cs typeface="+mn-lt"/>
                <a:hlinkClick r:id="rId2"/>
              </a:rPr>
              <a:t>https://drive.google.com/file/d/1-T-Qv0u7PWdYSrMmEYHmQOtL0HpfTMlF/view?usp=sharing</a:t>
            </a:r>
            <a:endParaRPr lang="en-US">
              <a:solidFill>
                <a:srgbClr val="595959"/>
              </a:solidFill>
              <a:ea typeface="Calibri"/>
              <a:cs typeface="Calibri"/>
            </a:endParaRPr>
          </a:p>
          <a:p>
            <a:pPr algn="ctr"/>
            <a:endParaRPr lang="en-US" i="1" dirty="0">
              <a:solidFill>
                <a:srgbClr val="595959"/>
              </a:solidFill>
              <a:ea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9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81DF981-CA4C-AB5D-2FF5-04F6423C7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90" y="1415846"/>
            <a:ext cx="9556955" cy="486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Relationships &amp; Cardinality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50000"/>
            <a:ext cx="10820400" cy="4628770"/>
          </a:xfrm>
        </p:spPr>
        <p:txBody>
          <a:bodyPr/>
          <a:lstStyle/>
          <a:p>
            <a:endParaRPr lang="en-IN"/>
          </a:p>
        </p:txBody>
      </p:sp>
      <p:graphicFrame>
        <p:nvGraphicFramePr>
          <p:cNvPr id="30" name="Relationship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939928"/>
              </p:ext>
            </p:extLst>
          </p:nvPr>
        </p:nvGraphicFramePr>
        <p:xfrm>
          <a:off x="685800" y="1650000"/>
          <a:ext cx="10820400" cy="40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Relationship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Cardinality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Justification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Room — Student (“houses”)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1:M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One room holds multiple students up to Capacity; each student is allotted one room. FK sits on Student.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Warden — Room (“manages”)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1:M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One warden is assigned a block, i.e. many rooms; a room has one warden at a time.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Student — </a:t>
                      </a:r>
                      <a:r>
                        <a:rPr lang="en-US" sz="1300" err="1">
                          <a:solidFill>
                            <a:srgbClr val="000000"/>
                          </a:solidFill>
                        </a:rPr>
                        <a:t>Fee_Payment</a:t>
                      </a: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 (“makes”)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1:M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A student pays across multiple installments; each payment ties to one student.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Student — Complaint (“files”)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1:M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A student may raise several complaints; each belongs to one student.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Warden — Complaint (“resolves”)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1:M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A warden handles many complaints; each is resolved by one warden.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Student — Visitor (“receives”)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1:1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A student </a:t>
                      </a: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visits one person at a time at different time slots.</a:t>
                      </a:r>
                      <a:endParaRPr lang="en-US" sz="1300">
                        <a:solidFill>
                          <a:srgbClr val="000000"/>
                        </a:solidFill>
                      </a:endParaRP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4B512-1BD4-7723-6020-813B24C01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344DB80A-E3E4-D2E4-6739-D4BEC1873FBA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48913894-803F-CF4A-A178-4E5CDD9B5F9F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7A6C45A6-1F10-027A-D200-EBE94F83D1EE}"/>
              </a:ext>
            </a:extLst>
          </p:cNvPr>
          <p:cNvSpPr/>
          <p:nvPr/>
        </p:nvSpPr>
        <p:spPr>
          <a:xfrm>
            <a:off x="650000" y="1500000"/>
            <a:ext cx="545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1. WARDEN — ROOM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MANAGES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warden</a:t>
            </a:r>
            <a:endParaRPr lang="en-IN" sz="1400" dirty="0">
              <a:solidFill>
                <a:srgbClr val="FFFF00"/>
              </a:solidFill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warden (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first_name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middle_name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last_name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337670EA-69FF-5FB9-AB52-900306880904}"/>
              </a:ext>
            </a:extLst>
          </p:cNvPr>
          <p:cNvSpPr/>
          <p:nvPr/>
        </p:nvSpPr>
        <p:spPr>
          <a:xfrm>
            <a:off x="6351456" y="1518345"/>
            <a:ext cx="530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room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room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room_no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floor 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type       VARCHAR2(20),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capacity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status     NUMBER(1),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room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room_warden_fk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warden(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D9934-D18F-AB5A-E50B-A4609051D94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C854-A672-4713-D1DD-603E217C5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986A1E-9E44-E662-B35F-4515BDEFA4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2F6CF7-3260-B9D2-8E7D-5608B625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215" y="4662775"/>
            <a:ext cx="3330229" cy="11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68521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8809-1449-50AB-5667-083BD219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98C3934-8BC0-4F15-9DCC-452646F9AD11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02102B50-9735-5704-DE49-B8E41AA59B29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C302438B-094D-EAC1-E528-20D967459543}"/>
              </a:ext>
            </a:extLst>
          </p:cNvPr>
          <p:cNvSpPr/>
          <p:nvPr/>
        </p:nvSpPr>
        <p:spPr>
          <a:xfrm>
            <a:off x="489444" y="1545510"/>
            <a:ext cx="5537730" cy="4810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2. ROOM — STUDENT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HOUSES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room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CREATE TABLE room (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room_id</a:t>
            </a:r>
            <a:r>
              <a:rPr lang="en-US" sz="1400" dirty="0">
                <a:solidFill>
                  <a:schemeClr val="bg1"/>
                </a:solidFill>
              </a:rPr>
              <a:t>    INTEGER,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room_no</a:t>
            </a:r>
            <a:r>
              <a:rPr lang="en-US" sz="1400" dirty="0">
                <a:solidFill>
                  <a:schemeClr val="bg1"/>
                </a:solidFill>
              </a:rPr>
              <a:t>    INTEGER,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floor      INTEGER,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type       VARCHAR2(20),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capacity   INTEGER,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status     NUMBER(1),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warden_id</a:t>
            </a:r>
            <a:r>
              <a:rPr lang="en-US" sz="1400" dirty="0">
                <a:solidFill>
                  <a:schemeClr val="bg1"/>
                </a:solidFill>
              </a:rPr>
              <a:t>  INTEGER,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CONSTRAINT </a:t>
            </a:r>
            <a:r>
              <a:rPr lang="en-US" sz="1400" dirty="0" err="1">
                <a:solidFill>
                  <a:schemeClr val="bg1"/>
                </a:solidFill>
              </a:rPr>
              <a:t>room_pk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    PRIMARY KEY (</a:t>
            </a:r>
            <a:r>
              <a:rPr lang="en-US" sz="1400" dirty="0" err="1">
                <a:solidFill>
                  <a:schemeClr val="bg1"/>
                </a:solidFill>
              </a:rPr>
              <a:t>room_id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</a:rPr>
              <a:t>);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E91365F4-A34B-FB17-D6B8-F9E8C39CB014}"/>
              </a:ext>
            </a:extLst>
          </p:cNvPr>
          <p:cNvSpPr/>
          <p:nvPr/>
        </p:nvSpPr>
        <p:spPr>
          <a:xfrm>
            <a:off x="6096000" y="1561010"/>
            <a:ext cx="5400600" cy="472551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student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student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first_name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VARCHAR2(30),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middle_name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VARCHAR2(30),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last_name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VARCHAR2(30),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course      VARCHAR2(30),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year   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student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student_room_fk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room(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CFD5B-D59D-3715-9386-CF47572ACB7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7FE5D-EAC4-6A3A-0738-FFD67F2B0A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38B90F-BBB3-06BE-76CC-1704F161E91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01AEFB-66BE-0323-DB1E-278C7BF95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216" y="5065425"/>
            <a:ext cx="3314987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34871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87A0-0972-BA77-7197-2B9115B7D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3981CC2-C8A7-678C-9DC5-D746FE5A4C7E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B9ABD2E0-81C5-F924-F8EA-6F0640FF691F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F60FADCB-C460-4793-76C0-7FBCA721B174}"/>
              </a:ext>
            </a:extLst>
          </p:cNvPr>
          <p:cNvSpPr/>
          <p:nvPr/>
        </p:nvSpPr>
        <p:spPr>
          <a:xfrm>
            <a:off x="650000" y="1500000"/>
            <a:ext cx="545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3. STUDENT — FEE_PAYMENT</a:t>
            </a:r>
          </a:p>
          <a:p>
            <a:r>
              <a:rPr lang="en-IN" sz="1600" b="1" dirty="0">
                <a:solidFill>
                  <a:srgbClr val="FFFF00"/>
                </a:solidFill>
              </a:rPr>
              <a:t>Relationship: MAKES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student</a:t>
            </a:r>
          </a:p>
          <a:p>
            <a:r>
              <a:rPr lang="en-IN" sz="1400" dirty="0">
                <a:solidFill>
                  <a:schemeClr val="bg1"/>
                </a:solidFill>
              </a:rPr>
              <a:t>CREATE TABLE student (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student_id</a:t>
            </a:r>
            <a:r>
              <a:rPr lang="en-IN" sz="1400" dirty="0">
                <a:solidFill>
                  <a:schemeClr val="bg1"/>
                </a:solidFill>
              </a:rPr>
              <a:t>  INTEGER,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first_name</a:t>
            </a:r>
            <a:r>
              <a:rPr lang="en-IN" sz="1400" dirty="0">
                <a:solidFill>
                  <a:schemeClr val="bg1"/>
                </a:solidFill>
              </a:rPr>
              <a:t>  VARCHAR2(30),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middle_name</a:t>
            </a:r>
            <a:r>
              <a:rPr lang="en-IN" sz="1400" dirty="0">
                <a:solidFill>
                  <a:schemeClr val="bg1"/>
                </a:solidFill>
              </a:rPr>
              <a:t> VARCHAR2(30),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last_name</a:t>
            </a:r>
            <a:r>
              <a:rPr lang="en-IN" sz="1400" dirty="0">
                <a:solidFill>
                  <a:schemeClr val="bg1"/>
                </a:solidFill>
              </a:rPr>
              <a:t>   VARCHAR2(30),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course      VARCHAR2(30),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year        INTEGER,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room_id</a:t>
            </a:r>
            <a:r>
              <a:rPr lang="en-IN" sz="1400" dirty="0">
                <a:solidFill>
                  <a:schemeClr val="bg1"/>
                </a:solidFill>
              </a:rPr>
              <a:t>     INTEGER,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CONSTRAINT </a:t>
            </a:r>
            <a:r>
              <a:rPr lang="en-IN" sz="1400" dirty="0" err="1">
                <a:solidFill>
                  <a:schemeClr val="bg1"/>
                </a:solidFill>
              </a:rPr>
              <a:t>student_pk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  PRIMARY KEY (</a:t>
            </a:r>
            <a:r>
              <a:rPr lang="en-IN" sz="1400" dirty="0" err="1">
                <a:solidFill>
                  <a:schemeClr val="bg1"/>
                </a:solidFill>
              </a:rPr>
              <a:t>student_id</a:t>
            </a:r>
            <a:r>
              <a:rPr lang="en-IN" sz="1400" dirty="0">
                <a:solidFill>
                  <a:schemeClr val="bg1"/>
                </a:solidFill>
              </a:rPr>
              <a:t>)</a:t>
            </a:r>
          </a:p>
          <a:p>
            <a:r>
              <a:rPr lang="en-IN" sz="1400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D1D0FD3F-B5B2-E112-2712-E3CF4B945EE4}"/>
              </a:ext>
            </a:extLst>
          </p:cNvPr>
          <p:cNvSpPr/>
          <p:nvPr/>
        </p:nvSpPr>
        <p:spPr>
          <a:xfrm>
            <a:off x="6351456" y="1518345"/>
            <a:ext cx="530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</a:t>
            </a:r>
            <a:r>
              <a:rPr lang="en-IN" sz="1400" b="1" dirty="0" err="1">
                <a:solidFill>
                  <a:srgbClr val="FFFF00"/>
                </a:solidFill>
              </a:rPr>
              <a:t>fee_payment</a:t>
            </a:r>
            <a:endParaRPr lang="en-IN" sz="1400" b="1" dirty="0">
              <a:solidFill>
                <a:srgbClr val="FFFF00"/>
              </a:solidFill>
            </a:endParaRP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fee_payment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payment_id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amount    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payment_date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due_date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 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payment_status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NUMBER(1),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fee_payment_pk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payment_id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fee_payment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payment_student_fk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student(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D57B3-97EC-6541-0C2A-0803234116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2F154-B1F5-8A36-C0F3-C2914A4F05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9D393-D47F-CAC9-675F-E019D91D4A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FD05F-29E2-559A-3870-C0C31670C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60" y="4893970"/>
            <a:ext cx="3276884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61276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918E6-B37B-B4A9-2FEA-3F8AE657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79331BF-57DA-5548-321C-E26A7174386B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C06A8DB9-3A1B-C318-62AC-A1848CAF875C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3F2A86B0-1B30-414E-703F-0E7A009766BB}"/>
              </a:ext>
            </a:extLst>
          </p:cNvPr>
          <p:cNvSpPr/>
          <p:nvPr/>
        </p:nvSpPr>
        <p:spPr>
          <a:xfrm>
            <a:off x="650000" y="1500000"/>
            <a:ext cx="5524658" cy="477877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4. STUDENT — COMPLAINT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FILES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student</a:t>
            </a:r>
            <a:endParaRPr lang="en-IN" sz="1400" dirty="0">
              <a:solidFill>
                <a:srgbClr val="FFFF00"/>
              </a:solidFill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student (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first_name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middle_name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last_name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course   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year    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6AC911FD-7AD9-5F54-0C42-BDC2AD68FBAD}"/>
              </a:ext>
            </a:extLst>
          </p:cNvPr>
          <p:cNvSpPr/>
          <p:nvPr/>
        </p:nvSpPr>
        <p:spPr>
          <a:xfrm>
            <a:off x="6351456" y="1518344"/>
            <a:ext cx="5398092" cy="476042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complaint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complaint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description    VARCHAR2(100),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status         NUMBER(1),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complaint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complaint_student_fk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student(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ACC16-AC2C-2913-54C5-74D55CF8C5B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D0E9F-6E10-C2A8-CD04-9D62AE3058D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ADA369-CCEA-F377-75B8-2B5383F012A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906182-0605-820F-209D-27C925166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60" y="4987384"/>
            <a:ext cx="3276884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11615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41CB6-D7BC-DBFD-C570-D506B258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0136028-FCB5-6BF0-F2BE-95143CF24895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A6C75734-88A9-E76F-C837-AC114FD0CAB5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C76CA0B8-13D0-DAAD-7451-701C482D7001}"/>
              </a:ext>
            </a:extLst>
          </p:cNvPr>
          <p:cNvSpPr/>
          <p:nvPr/>
        </p:nvSpPr>
        <p:spPr>
          <a:xfrm>
            <a:off x="695400" y="1447174"/>
            <a:ext cx="545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5. WARDEN — COMPLAINT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RESOLVES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warden</a:t>
            </a:r>
            <a:endParaRPr lang="en-IN" sz="1400" dirty="0">
              <a:solidFill>
                <a:srgbClr val="FFFF00"/>
              </a:solidFill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warden (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first_name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middle_name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last_name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3A55B58D-D146-44A5-FD7C-6F6574B7345B}"/>
              </a:ext>
            </a:extLst>
          </p:cNvPr>
          <p:cNvSpPr/>
          <p:nvPr/>
        </p:nvSpPr>
        <p:spPr>
          <a:xfrm>
            <a:off x="6351456" y="1518345"/>
            <a:ext cx="530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complaint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complaint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description    VARCHAR2(100),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status         NUMBER(1),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complaint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complaint_warden_fk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warden(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845F2-AEA1-E091-002F-5EF6187EDD1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0F52E-BA96-1F5D-17BB-02269E60871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EEE3F0-399D-4DF6-03C1-351ADDCFF99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85344F-1EBC-1B14-55CC-B00AF304A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066" y="4656906"/>
            <a:ext cx="3215919" cy="10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72830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BEE1-2796-5E59-56A1-F803CE80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AE547D8-A2B1-CF15-5645-8F81297607EE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A6A5114D-ED8D-30EF-7F8F-A5BE13469FF1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C5DF5F54-01B7-4B80-C4C6-2D3B9FCBF353}"/>
              </a:ext>
            </a:extLst>
          </p:cNvPr>
          <p:cNvSpPr/>
          <p:nvPr/>
        </p:nvSpPr>
        <p:spPr>
          <a:xfrm>
            <a:off x="489444" y="1518344"/>
            <a:ext cx="5675382" cy="476042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6. STUDENT — VISITOR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RECEIVES (1:1)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student</a:t>
            </a:r>
            <a:endParaRPr lang="en-IN" sz="1400" dirty="0">
              <a:solidFill>
                <a:srgbClr val="FFFF00"/>
              </a:solidFill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student (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first_name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middle_name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last_name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course   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year    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FE145365-BA64-7343-1553-FBEC10C3205E}"/>
              </a:ext>
            </a:extLst>
          </p:cNvPr>
          <p:cNvSpPr/>
          <p:nvPr/>
        </p:nvSpPr>
        <p:spPr>
          <a:xfrm>
            <a:off x="6351456" y="1518345"/>
            <a:ext cx="5351100" cy="476042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visitor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visitor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visitor_name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VARCHAR2(30),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visitor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visitor_student_fk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student(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visitor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visitor_student_uk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UNIQUE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814FC-53DC-7F37-5CED-323F05146FA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5E293-3CF1-E253-D3DE-66FC4DC0CE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9D7266-486C-E591-57E1-A9043002C1D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776D55-456C-AB10-8DEA-1DFD5E011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254" y="5033013"/>
            <a:ext cx="3299746" cy="110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03722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D333-A764-218D-F797-EC236466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2AF1776-B376-E453-D004-C7946BC949FD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34EBF9B7-98F0-1EA9-7983-031807FEAAD4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48BEDD92-E7C2-0E20-2D61-F8C3D053E08D}"/>
              </a:ext>
            </a:extLst>
          </p:cNvPr>
          <p:cNvSpPr/>
          <p:nvPr/>
        </p:nvSpPr>
        <p:spPr>
          <a:xfrm>
            <a:off x="650000" y="1500000"/>
            <a:ext cx="545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7. VISITOR — VISIT_PURPOSE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HAS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visitor</a:t>
            </a:r>
            <a:endParaRPr lang="en-IN" sz="1400" dirty="0">
              <a:solidFill>
                <a:srgbClr val="FFFF00"/>
              </a:solidFill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visitor (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visitor_name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visitor_date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DATE,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visitor_pk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1B25F4D9-5E7A-78E6-9237-80E9F3C70D80}"/>
              </a:ext>
            </a:extLst>
          </p:cNvPr>
          <p:cNvSpPr/>
          <p:nvPr/>
        </p:nvSpPr>
        <p:spPr>
          <a:xfrm>
            <a:off x="6351456" y="1518345"/>
            <a:ext cx="530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</a:t>
            </a:r>
            <a:r>
              <a:rPr lang="en-IN" sz="1400" b="1" dirty="0" err="1">
                <a:solidFill>
                  <a:srgbClr val="FFFF00"/>
                </a:solidFill>
              </a:rPr>
              <a:t>visit_purpose</a:t>
            </a:r>
            <a:endParaRPr lang="en-IN" sz="1400" b="1" dirty="0">
              <a:solidFill>
                <a:srgbClr val="FFFF00"/>
              </a:solidFill>
            </a:endParaRP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visit_purpose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purpose_id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purpose    VARCHAR2(50),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visit_purpose_pk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,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purpose_id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),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visit_purpose_fk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REFERENCES visitor(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8B228-23E9-47A4-4484-FA03F99603B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CA75A-6108-FA78-6A4C-9B808F071A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98F08F-B1BC-9E17-505B-7853AC6E3B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BA189E-D14F-B53A-2E53-A001771C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4881708"/>
            <a:ext cx="3292125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15724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7F190-659F-A0DF-863B-B3C71501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2DE3CEE-9929-4C03-474F-63B7A654A55A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6F08D563-2BD8-E26A-C0EF-3D4F34629578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8F9624F8-65CA-D7DF-69EA-DB6C546F043B}"/>
              </a:ext>
            </a:extLst>
          </p:cNvPr>
          <p:cNvSpPr/>
          <p:nvPr/>
        </p:nvSpPr>
        <p:spPr>
          <a:xfrm>
            <a:off x="650000" y="1500000"/>
            <a:ext cx="545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8. COMPLAINT — COMPLAINT_RESOLUTION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HAS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—complaint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complaint (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complaint_date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DATE,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description    VARCHAR2(100),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status         NUMBER(1),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  INTEGER,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complaint_pk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59A467A8-38BA-7A04-0A37-E47F9AD1F269}"/>
              </a:ext>
            </a:extLst>
          </p:cNvPr>
          <p:cNvSpPr/>
          <p:nvPr/>
        </p:nvSpPr>
        <p:spPr>
          <a:xfrm>
            <a:off x="6351456" y="1518345"/>
            <a:ext cx="530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</a:t>
            </a:r>
            <a:r>
              <a:rPr lang="en-IN" sz="1400" b="1" dirty="0" err="1">
                <a:solidFill>
                  <a:srgbClr val="FFFF00"/>
                </a:solidFill>
              </a:rPr>
              <a:t>complaint_resolution</a:t>
            </a:r>
            <a:endParaRPr lang="en-IN" sz="1400" b="1" dirty="0">
              <a:solidFill>
                <a:srgbClr val="FFFF00"/>
              </a:solidFill>
            </a:endParaRP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complaint_resolution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resolution_id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resolution_date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remarks        VARCHAR2(100),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complaint_resolution_pk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,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resolution_id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),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complaint_resolution_fk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REFERENCES complaint(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8E4EC-1586-FAFC-ACCA-5D8DC4BFB72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80496-15AB-7E34-3E68-6A11E9AB69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48436D-45DA-FB70-5760-3442CD3228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0B494F-20D8-7D54-98B7-30C86F7D4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733" y="4862657"/>
            <a:ext cx="3360711" cy="9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62190"/>
      </p:ext>
    </p:extLst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1 — All Students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Display the complete student register held by the hostel.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*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Simple projection of a single table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Baseline check that the INSERT data loaded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FIRST_NAME  LAST_NAME  COURSE  YEAR  ROOM_ID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  ---------  ------  ----  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201         Sai         Laxmi      CSE     2     101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202         Rahul       Reddy      CSE     2     102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203         Priya       Rao        AIML    2     103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204         Ravi        Das        IT      1     104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205         Sita        Patel      CSE     1     105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206         Arjun       Singh      ECE     2     106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207         Sneha       Gupta      CSE     2     107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208         Kiran       Rao        IT      1     108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209         Pooja       Nair       AIML    3     109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210         Vijay       Mishra     CSE     3     110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211         Divya       Jain       ECE     2     111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19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2 — Student With Room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Show each student together with the room they have been allotted.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s.student_id,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r.room_no, r.floor, r.type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room 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s.room_id = r.room_id;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INNER JOIN across the student_room FK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String concatenation with || and an alias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STUDENT_NAME  ROOM_NO  FLOOR  TYPE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------------  -------  -----  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201         Sai Laxmi     1        1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202         Rahul Reddy   2        1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203         Priya Rao     3        1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204         Ravi Das      4        1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205         Sita Patel    5        1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206         Arjun Singh   6        2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207         Sneha Gupta   7        2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208         Kiran Rao     8        2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209         Pooja Nair    9        2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210         Vijay Mishra  10       2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211         Divya Jain    11       3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20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3 — Students of One Branch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Which students belong to the CSE branch?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243003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student_id, first_name, last_name,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course, year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WHERE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course = 'CSE';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WHERE filter on a character column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Returns 7 of the 15 students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243003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FIRST_NAME  LAST_NAME  COURSE  YEAR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  ---------  ------  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201         Sai         Laxmi      CSE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202         Rahul       Reddy      CSE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205         Sita        Patel      CSE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207         Sneha       Gupta      CSE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210         Vijay       Mishra     CSE    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212         Amit        Shah       CSE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214         Manoj       Rao        CSE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7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21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4 — Rooms Per Warden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Which rooms does each warden supervise?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w.warden_id,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w.first_name || ' ' || w.last_name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warden_name,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r.room_no, r.floor, r.type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warden w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room 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w.warden_id = r.warden_id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w.warden_id;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Join on the room_warden FK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ORDER BY groups a warden's rooms together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WARDEN_ID  WARDEN_NAME   ROOM_NO  FLOOR  TYPE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  ------------  -------  -----  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          Ravi Sharma   1        1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          Ravi Sharma   2        1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          Anil Verma    3        1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          Anil Verma    4        1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          Suresh Reddy  5        1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          Suresh Reddy  6        2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          Priya Rao     7        2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          Priya Rao     8        2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          Kiran Patel   9        2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          Kiran Patel   10       2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6          Arjun Singh   11       3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22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5 — Students Who Have Paid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List the students whose hostel fee has been received.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s.student_id,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f.amount, f.payment_date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fee_payment f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s.student_id = f.student_id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WHERE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f.payment_status = 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JOIN plus WHERE on a status flag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13 of 15 students have cleared the fee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STUDENT_NAME  AMOUNT  PAYMENT_DATE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------------  ------  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201         Sai Laxmi     25000   2026-01-05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202         Rahul Reddy   25000   2026-01-06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203         Priya Rao     26000   2026-01-07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204         Ravi Das      24000   2026-01-08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205         Sita Patel    25000   2026-01-09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206         Arjun Singh   27000   2026-01-10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207         Sneha Gupta   26000   2026-01-11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208         Kiran Rao     24000   2026-01-12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209         Pooja Nair    25000   2026-01-13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210         Vijay Mishra  27000   2026-01-14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211         Divya Jain    25000   2026-01-16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13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23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6 — Pending Fee Payments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Who still owes the hostel fee, and by what due date?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4160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s.student_id,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f.amount, f.due_date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fee_payment f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s.student_id = f.student_id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WHERE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f.payment_status =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The defaulter report the warden needs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Same join, opposite status value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4160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STUDENT_NAME  AMOUNT  DUE_DATE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------------  ------  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214         Manoj Rao     25000   2026-01-20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215         Anu Kumar     27000   2026-01-25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2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24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7 — Complaint Detail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Show every complaint with who raised it and who is handling it.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655283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c.complaint_id,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c.description, c.status,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w.first_name || ' ' || w.last_name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warden_name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complaint c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c.student_id = s.student_id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warden w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c.warden_id = w.warden_id;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Three-table join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status 1 = resolved, 0 = open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655283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 b="1">
                <a:solidFill>
                  <a:srgbClr val="F5B95C"/>
                </a:solidFill>
                <a:latin typeface="Consolas"/>
                <a:cs typeface="Consolas"/>
              </a:rPr>
              <a:t>COMPLAINT_ID  STUDENT_NAME  DESCRIPTION      STATUS  WARDEN_NAME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9CA3AF"/>
                </a:solidFill>
                <a:latin typeface="Consolas"/>
                <a:cs typeface="Consolas"/>
              </a:rPr>
              <a:t>------------  ------------  ---------------  ------  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401           Sai Laxmi     Water problem    1       Ravi Sharma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402           Rahul Reddy   Fan not working  1       Anil Verma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403           Priya Rao     Light problem    1       Suresh Reddy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404           Ravi Das      WiFi issue       0       Priya Rao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405           Sita Patel    Room cleaning    1       Kiran Patel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406           Arjun Singh   Bathroom issue   1       Arjun Singh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407           Sneha Gupta   Bed repair       0       Meena Das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408           Kiran Rao     Door lock issue  1       Rahul Naik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409           Pooja Nair    Water leakage    1       Sneha Gupta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410           Vijay Mishra  AC problem       0       Vijay Mishra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411           Divya Jain    Mess food issue  1       Pooja Nair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25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8 — Open Complaints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Which complaints are still open?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2223371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complaint_id, 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description, complaint_date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complaint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WHERE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status =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Single-table WHERE on the status flag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4 complaints remain open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2223371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COMPLAINT_ID  STUDENT_ID  DESCRIPTION      COMPLAINT_DATE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  ----------  ---------------  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404           204         WiFi issue       2026-02-04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407           207         Bed repair       2026-02-07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410           210         AC problem       2026-02-10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413           213         Furniture issue  2026-02-13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4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26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9 — Students Per Room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How many students currently occupy each room?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r.room_no, r.capacity,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(s.student_id)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students_count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room 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LEFT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r.room_id = s.room_id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GROUP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r.room_no, r.capacity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r.room_no;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LEFT JOIN keeps empty rooms in the result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COUNT with GROUP BY on two columns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ROOM_NO  CAPACITY  STUDENTS_COUNT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  --------  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2        2         1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3        2         1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4        3         1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6        2         1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7        3         1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8        1         1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9        2         1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10       3         1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11       1         1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27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10 — Rooms With Free Beds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Which rooms still have a bed free for a new admission?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24616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r.room_no, r.capacity,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(s.student_id)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occupied,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r.capacity -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(s.student_id)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available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room 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LEFT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r.room_id = s.room_id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GROUP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r.room_no, r.capacity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HAVING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(s.student_id) &lt; r.capacity;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HAVING filters groups, WHERE cannot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Drives the automated room-allotment rule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24616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ROOM_NO  CAPACITY  OCCUPIED  AVAILABLE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  --------  --------  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2        2         1         1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3        2         1         1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4        3         1         2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6        2         1         1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7        3         1         2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9        2         1         1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10       3         1         2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12       2         1         1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13       3         1         2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15       2         1         1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10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28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11 — Students Per Course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How is hostel strength distributed across branches?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242793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course,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(*)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total_students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GROUP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course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total_students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DESC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Aggregate over one table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ORDER BY on the aggregate alias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242793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COURSE  TOTAL_STUDENTS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  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CSE     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IT     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AIML   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ECE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4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29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12 — Total Fee Collected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What is the total amount collected so far?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223030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SUM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(amount)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total_fee_collected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fee_payment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WHERE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payment_status = 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SUM over the rows that passed the filter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13 paid rows total 3,29,000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Outstanding dues: 52,000 across 2 students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223030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TOTAL_FEE_COLLECTED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329000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 row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30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13 — Visitor Log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Who visited the hostel, on what date, and to see whom?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v.visitor_id, v.visitor_name,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v.visitor_date,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visitor v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v.student_id = s.student_id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v.visitor_date;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Join on the visitor_student FK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Chronological security log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VISITOR_ID  VISITOR_NAME  VISITOR_DATE  STUDENT_NAME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------------  ------------  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501         Ramesh        2026-02-01    Sai Laxmi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502         Suresh        2026-02-02    Rahul Reddy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503         Kavya         2026-02-03    Priya Rao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504         Anil          2026-02-04    Ravi Das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505         Pavan         2026-02-05    Sita Patel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506         Meena         2026-02-06    Arjun Singh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507         Rohit         2026-02-07    Sneha Gupta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508         Swathi        2026-02-08    Kiran Rao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509         Arun          2026-02-09    Pooja Nair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510         Divya         2026-02-10    Vijay Mishra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511         Kiran         2026-02-11    Divya Jain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31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14 — Visitors Per Student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How many visitors has each student received?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45072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s.student_id,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(v.visitor_id)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visitor_count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visitor v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s.student_id = v.student_id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GROUP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s.student_id,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s.first_name,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visitor_count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DESC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COUNT per group with a descending sort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Every student has one logged visitor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45072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STUDENT_NAME  VISITOR_COUNT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------------  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215         Anu Kumar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214         Manoj Rao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213         Swathi Reddy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212         Amit Shah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211         Divya Jain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210         Vijay Mishra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209         Pooja Nair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208         Kiran Rao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207         Sneha Gupta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206         Arjun Singh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205         Sita Patel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32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15 — Complaint Resolutions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How was each complaint finally resolved?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6124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c.complaint_id, c.description,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cr.resolution_date, cr.remarks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complaint c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complaint_resolution cr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c.complaint_id = cr.complaint_id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cr.resolution_date;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Joins the 1NF relationship table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Closes the complaint workflow loop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6124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 b="1">
                <a:solidFill>
                  <a:srgbClr val="F5B95C"/>
                </a:solidFill>
                <a:latin typeface="Consolas"/>
                <a:cs typeface="Consolas"/>
              </a:rPr>
              <a:t>COMPLAINT_ID  DESCRIPTION      RESOLUTION_DATE  REMARKS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9CA3AF"/>
                </a:solidFill>
                <a:latin typeface="Consolas"/>
                <a:cs typeface="Consolas"/>
              </a:rPr>
              <a:t>------------  ---------------  ---------------  -----------------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401           Water problem    2026-02-02       Water repaired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402           Fan not working  2026-02-03       Fan replaced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403           Light problem    2026-02-04       Light replaced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404           WiFi issue       2026-02-05       WiFi fixed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405           Room cleaning    2026-02-06       Room cleaned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406           Bathroom issue   2026-02-07       Bathroom repaired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407           Bed repair       2026-02-08       Bed repaired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408           Door lock issue  2026-02-09       Lock replaced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409           Water leakage    2026-02-10       Leakage fixed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410           AC problem       2026-02-11       AC repaired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411           Mess food issue  2026-02-12       Issue resolved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33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en-IN" sz="2700" b="1" dirty="0">
                <a:solidFill>
                  <a:srgbClr val="F1F5F9"/>
                </a:solidFill>
              </a:rPr>
              <a:t>					</a:t>
            </a:r>
            <a:r>
              <a:rPr sz="2700" b="1" dirty="0">
                <a:solidFill>
                  <a:srgbClr val="F1F5F9"/>
                </a:solidFill>
              </a:rPr>
              <a:t>Normalization — Before &amp;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7546"/>
            <a:ext cx="1024128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CBD5E1"/>
                </a:solidFill>
              </a:rPr>
              <a:t>Start with one flat table: repeated data creates redundancy and anomalies.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658368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99032"/>
            <a:ext cx="636422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BEFORE — UNNORMALIZED (UNF)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6126480" cy="6400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</a:rPr>
              <a:t>HOSTEL_RECORD(
student_id, student_name, phone1, phone2,
room_no, room_type, capacity, warden_id,
warden_name, warden_phone, amount, due_date, payment_status)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2743200"/>
          <a:ext cx="59893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Student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Phone1 / Phone2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Room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Warden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Fee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Sai Laxmi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9100000001 / 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 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Rahul Reddy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 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Manoj Rao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 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27000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60920" y="1325880"/>
            <a:ext cx="4206240" cy="452628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0648" y="1399032"/>
            <a:ext cx="3986783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WHAT GOES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828800"/>
            <a:ext cx="365760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FDBA74"/>
                </a:solidFill>
              </a:rPr>
              <a:t>REDUNDANCY
Ravi Sharma and room facts are repeated across student rows.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788920"/>
            <a:ext cx="3657600" cy="822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</a:rPr>
              <a:t>INSERTION ANOMALY
A new room cannot be stored until a student exists.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657600"/>
            <a:ext cx="3657600" cy="822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</a:rPr>
              <a:t>UPDATE ANOMALY
Change one warden phone → many rows must be updated.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526280"/>
            <a:ext cx="365760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</a:rPr>
              <a:t>DELETION ANOMALY
Delete the last student → room information can disappear.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1828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26-09-2026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6419088"/>
            <a:ext cx="45720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DBMS Cornerstone Project  •  Student Hostel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419088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900" b="0">
                <a:solidFill>
                  <a:srgbClr val="CBD5E1"/>
                </a:solidFill>
              </a:rPr>
              <a:t>11</a:t>
            </a:r>
          </a:p>
        </p:txBody>
      </p:sp>
    </p:spTree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en-IN" sz="2700" b="1" dirty="0">
                <a:solidFill>
                  <a:srgbClr val="F1F5F9"/>
                </a:solidFill>
              </a:rPr>
              <a:t>							</a:t>
            </a:r>
            <a:r>
              <a:rPr sz="2700" b="1" dirty="0">
                <a:solidFill>
                  <a:srgbClr val="F1F5F9"/>
                </a:solidFill>
              </a:rPr>
              <a:t>1NF — Atomic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824" y="1021852"/>
            <a:ext cx="1024128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Remove repeating groups and make every attribute single-valued.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257800" cy="47091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53312"/>
            <a:ext cx="503834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BEFORE — SCHEMA +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754880" cy="594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</a:rPr>
              <a:t>Student(student_id, name, phone1, phone2, email)
Problem: phone1/phone2 is a repeating group.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2514600"/>
          <a:ext cx="4617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student_id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phone1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phone2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Sai Laxmi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Rahul Reddy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4434840"/>
            <a:ext cx="466344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>
                <a:solidFill>
                  <a:srgbClr val="FDBA74"/>
                </a:solidFill>
              </a:rPr>
              <a:t>A third phone would require changing the table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280160"/>
            <a:ext cx="5486400" cy="47091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1353312"/>
            <a:ext cx="526694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AFTER — 1NF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19072"/>
            <a:ext cx="4937760" cy="685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Student(student_id, first_name, middle_name,
last_name, course, year, room_id)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23160"/>
            <a:ext cx="49377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</a:rPr>
              <a:t>Student_Phone(student_id FK, phone)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55080" y="2971800"/>
          <a:ext cx="4754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student_id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phone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55080" y="4617720"/>
            <a:ext cx="475488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Student_Email(student_id FK, email)
Each value is atomic; phones can grow without schema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1828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26-09-2026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6419088"/>
            <a:ext cx="45720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DBMS Cornerstone Project  •  Student Hostel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19088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900" b="0">
                <a:solidFill>
                  <a:srgbClr val="CBD5E1"/>
                </a:solidFill>
              </a:rPr>
              <a:t>12</a:t>
            </a:r>
          </a:p>
        </p:txBody>
      </p:sp>
    </p:spTree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en-IN" sz="2700" b="1" dirty="0">
                <a:solidFill>
                  <a:srgbClr val="F1F5F9"/>
                </a:solidFill>
              </a:rPr>
              <a:t>						</a:t>
            </a:r>
            <a:r>
              <a:rPr sz="2700" b="1" dirty="0">
                <a:solidFill>
                  <a:srgbClr val="F1F5F9"/>
                </a:solidFill>
              </a:rPr>
              <a:t>2NF — No Partial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96696"/>
            <a:ext cx="1024128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CBD5E1"/>
                </a:solidFill>
              </a:rPr>
              <a:t>1NF + every non-key attribute depends on the whole primary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3035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53312"/>
            <a:ext cx="508406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BEFORE — PARTIAL DEPENDENCY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75488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Fee_Detail(student_id, payment_id,
student_name, course, amount, payment_date)
PK = (student_id, payment_id)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572000" cy="594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 dirty="0" err="1">
                <a:solidFill>
                  <a:srgbClr val="FCA5A5"/>
                </a:solidFill>
              </a:rPr>
              <a:t>student_name</a:t>
            </a:r>
            <a:r>
              <a:rPr sz="1300" b="1" dirty="0">
                <a:solidFill>
                  <a:srgbClr val="FCA5A5"/>
                </a:solidFill>
              </a:rPr>
              <a:t> and course depend only on </a:t>
            </a:r>
            <a:r>
              <a:rPr sz="1300" b="1" dirty="0" err="1">
                <a:solidFill>
                  <a:srgbClr val="FCA5A5"/>
                </a:solidFill>
              </a:rPr>
              <a:t>student_id</a:t>
            </a:r>
            <a:r>
              <a:rPr sz="1300" b="1" dirty="0">
                <a:solidFill>
                  <a:srgbClr val="FCA5A5"/>
                </a:solidFill>
              </a:rPr>
              <a:t> → partial dependency.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3429000"/>
          <a:ext cx="4663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900" b="1" dirty="0" err="1">
                          <a:solidFill>
                            <a:srgbClr val="7DD3FC"/>
                          </a:solidFill>
                        </a:rPr>
                        <a:t>student_id</a:t>
                      </a:r>
                      <a:endParaRPr sz="900" b="1" dirty="0">
                        <a:solidFill>
                          <a:srgbClr val="7DD3FC"/>
                        </a:solidFill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DD3FC"/>
                          </a:solidFill>
                        </a:rPr>
                        <a:t>payment_id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DD3FC"/>
                          </a:solidFill>
                        </a:rPr>
                        <a:t>student_name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DD3FC"/>
                          </a:solidFill>
                        </a:rPr>
                        <a:t>course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DD3FC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301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Sai Laxmi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CSE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302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Sai Laxmi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CSE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126480" y="1042436"/>
            <a:ext cx="5471160" cy="499260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6688" y="1193292"/>
            <a:ext cx="522122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 dirty="0">
                <a:solidFill>
                  <a:srgbClr val="7DD3FC"/>
                </a:solidFill>
              </a:rPr>
              <a:t>AFTER — 2NF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528439"/>
            <a:ext cx="489204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 dirty="0">
                <a:solidFill>
                  <a:srgbClr val="F1F5F9"/>
                </a:solidFill>
              </a:rPr>
              <a:t>Student(</a:t>
            </a:r>
            <a:r>
              <a:rPr sz="1300" b="0" dirty="0" err="1">
                <a:solidFill>
                  <a:srgbClr val="F1F5F9"/>
                </a:solidFill>
              </a:rPr>
              <a:t>student_id</a:t>
            </a:r>
            <a:r>
              <a:rPr sz="1300" b="0" dirty="0">
                <a:solidFill>
                  <a:srgbClr val="F1F5F9"/>
                </a:solidFill>
              </a:rPr>
              <a:t>, </a:t>
            </a:r>
            <a:r>
              <a:rPr sz="1300" b="0" dirty="0" err="1">
                <a:solidFill>
                  <a:srgbClr val="F1F5F9"/>
                </a:solidFill>
              </a:rPr>
              <a:t>first_name</a:t>
            </a:r>
            <a:r>
              <a:rPr sz="1300" b="0" dirty="0">
                <a:solidFill>
                  <a:srgbClr val="F1F5F9"/>
                </a:solidFill>
              </a:rPr>
              <a:t>, ..., course)
</a:t>
            </a:r>
            <a:r>
              <a:rPr sz="1300" b="0" dirty="0" err="1">
                <a:solidFill>
                  <a:srgbClr val="F1F5F9"/>
                </a:solidFill>
              </a:rPr>
              <a:t>Fee_Payment</a:t>
            </a:r>
            <a:r>
              <a:rPr sz="1300" b="0" dirty="0">
                <a:solidFill>
                  <a:srgbClr val="F1F5F9"/>
                </a:solidFill>
              </a:rPr>
              <a:t>(</a:t>
            </a:r>
            <a:r>
              <a:rPr sz="1300" b="0" dirty="0" err="1">
                <a:solidFill>
                  <a:srgbClr val="F1F5F9"/>
                </a:solidFill>
              </a:rPr>
              <a:t>payment_id</a:t>
            </a:r>
            <a:r>
              <a:rPr sz="1300" b="0" dirty="0">
                <a:solidFill>
                  <a:srgbClr val="F1F5F9"/>
                </a:solidFill>
              </a:rPr>
              <a:t>, amount, </a:t>
            </a:r>
            <a:r>
              <a:rPr sz="1300" b="0" dirty="0" err="1">
                <a:solidFill>
                  <a:srgbClr val="F1F5F9"/>
                </a:solidFill>
              </a:rPr>
              <a:t>payment_date</a:t>
            </a:r>
            <a:r>
              <a:rPr sz="1300" b="0" dirty="0">
                <a:solidFill>
                  <a:srgbClr val="F1F5F9"/>
                </a:solidFill>
              </a:rPr>
              <a:t>,
</a:t>
            </a:r>
            <a:r>
              <a:rPr sz="1300" b="0" dirty="0" err="1">
                <a:solidFill>
                  <a:srgbClr val="F1F5F9"/>
                </a:solidFill>
              </a:rPr>
              <a:t>due_date</a:t>
            </a:r>
            <a:r>
              <a:rPr sz="1300" b="0" dirty="0">
                <a:solidFill>
                  <a:srgbClr val="F1F5F9"/>
                </a:solidFill>
              </a:rPr>
              <a:t>, </a:t>
            </a:r>
            <a:r>
              <a:rPr sz="1300" b="0" dirty="0" err="1">
                <a:solidFill>
                  <a:srgbClr val="F1F5F9"/>
                </a:solidFill>
              </a:rPr>
              <a:t>payment_status</a:t>
            </a:r>
            <a:r>
              <a:rPr sz="1300" b="0" dirty="0">
                <a:solidFill>
                  <a:srgbClr val="F1F5F9"/>
                </a:solidFill>
              </a:rPr>
              <a:t>, </a:t>
            </a:r>
            <a:r>
              <a:rPr sz="1300" b="0" dirty="0" err="1">
                <a:solidFill>
                  <a:srgbClr val="F1F5F9"/>
                </a:solidFill>
              </a:rPr>
              <a:t>student_id</a:t>
            </a:r>
            <a:r>
              <a:rPr sz="1300" b="0" dirty="0">
                <a:solidFill>
                  <a:srgbClr val="F1F5F9"/>
                </a:solidFill>
              </a:rPr>
              <a:t> FK)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742435"/>
              </p:ext>
            </p:extLst>
          </p:nvPr>
        </p:nvGraphicFramePr>
        <p:xfrm>
          <a:off x="6309360" y="2327148"/>
          <a:ext cx="4709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7DD3FC"/>
                          </a:solidFill>
                        </a:rPr>
                        <a:t>payment_id</a:t>
                      </a:r>
                      <a:endParaRPr sz="1000" b="1" dirty="0">
                        <a:solidFill>
                          <a:srgbClr val="7DD3FC"/>
                        </a:solidFill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student_id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7DD3FC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301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302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" y="6419088"/>
            <a:ext cx="1828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26-09-2026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6419088"/>
            <a:ext cx="45720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DBMS Cornerstone Project  •  Student Hostel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419088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900" b="0">
                <a:solidFill>
                  <a:srgbClr val="CBD5E1"/>
                </a:solidFill>
              </a:rPr>
              <a:t>13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640E0D3-47EC-3C2C-8017-A535E4AC4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492480"/>
              </p:ext>
            </p:extLst>
          </p:nvPr>
        </p:nvGraphicFramePr>
        <p:xfrm>
          <a:off x="6245352" y="4251959"/>
          <a:ext cx="4865562" cy="1194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888"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7DD3FC"/>
                          </a:solidFill>
                        </a:rPr>
                        <a:t>student_id</a:t>
                      </a:r>
                      <a:endParaRPr sz="1000" b="1" dirty="0">
                        <a:solidFill>
                          <a:srgbClr val="7DD3FC"/>
                        </a:solidFill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 err="1">
                          <a:solidFill>
                            <a:srgbClr val="7DD3FC"/>
                          </a:solidFill>
                        </a:rPr>
                        <a:t>student_name</a:t>
                      </a:r>
                      <a:endParaRPr sz="1000" b="1" dirty="0">
                        <a:solidFill>
                          <a:srgbClr val="7DD3FC"/>
                        </a:solidFill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>
                          <a:solidFill>
                            <a:srgbClr val="7DD3FC"/>
                          </a:solidFill>
                        </a:rPr>
                        <a:t>course</a:t>
                      </a:r>
                      <a:endParaRPr sz="1000" b="1" dirty="0">
                        <a:solidFill>
                          <a:srgbClr val="7DD3FC"/>
                        </a:solidFill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795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solidFill>
                            <a:srgbClr val="F1F5F9"/>
                          </a:solidFill>
                        </a:rPr>
                        <a:t>Sai Laxmi</a:t>
                      </a:r>
                      <a:endParaRPr sz="1000" dirty="0">
                        <a:solidFill>
                          <a:srgbClr val="F1F5F9"/>
                        </a:solidFill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solidFill>
                            <a:srgbClr val="F1F5F9"/>
                          </a:solidFill>
                        </a:rPr>
                        <a:t>CSE</a:t>
                      </a:r>
                      <a:endParaRPr sz="1000" dirty="0">
                        <a:solidFill>
                          <a:srgbClr val="F1F5F9"/>
                        </a:solidFill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en-IN" sz="2700" b="1" dirty="0">
                <a:solidFill>
                  <a:srgbClr val="F1F5F9"/>
                </a:solidFill>
              </a:rPr>
              <a:t>						</a:t>
            </a:r>
            <a:r>
              <a:rPr sz="2700" b="1" dirty="0">
                <a:solidFill>
                  <a:srgbClr val="F1F5F9"/>
                </a:solidFill>
              </a:rPr>
              <a:t>3NF — No Transitive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013714"/>
            <a:ext cx="1024128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2NF + non-key attributes depend only on the primary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3035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53312"/>
            <a:ext cx="508406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BEFORE —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754880" cy="822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</a:rPr>
              <a:t>Room(room_id, room_no, floor, type,
capacity, status, warden_id,
warden_name, warden_phone)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4663440" cy="685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>
                <a:solidFill>
                  <a:srgbClr val="FCA5A5"/>
                </a:solidFill>
              </a:rPr>
              <a:t>room_id → warden_id → warden_name / warden_phone
This is a transitive dependency.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3474720"/>
          <a:ext cx="4617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room_id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room_no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warden_id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warden_name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 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 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126480" y="1280160"/>
            <a:ext cx="54406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1353312"/>
            <a:ext cx="522122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AFTER — 3NF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19072"/>
            <a:ext cx="489204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Room(room_id, room_no, floor, type,
capacity, status, warden_id FK)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0" y="2697480"/>
          <a:ext cx="47091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room_id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room_no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warden_id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0" y="4343400"/>
            <a:ext cx="48463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</a:rPr>
              <a:t>Warden(warden_id, first_name, middle_name, last_name)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4800600"/>
          <a:ext cx="47091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warden_id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first_name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last_name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" y="6419088"/>
            <a:ext cx="1828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26-09-2026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6419088"/>
            <a:ext cx="45720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DBMS Cornerstone Project  •  Student Hostel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19088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900" b="0">
                <a:solidFill>
                  <a:srgbClr val="CBD5E1"/>
                </a:solidFill>
              </a:rPr>
              <a:t>14</a:t>
            </a:r>
          </a:p>
        </p:txBody>
      </p:sp>
    </p:spTree>
  </p:cSld>
  <p:clrMapOvr>
    <a:masterClrMapping/>
  </p:clrMapOvr>
  <p:transition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en-IN" sz="2700" b="1" dirty="0">
                <a:solidFill>
                  <a:srgbClr val="F1F5F9"/>
                </a:solidFill>
              </a:rPr>
              <a:t>					</a:t>
            </a:r>
            <a:r>
              <a:rPr sz="2700" b="1" dirty="0">
                <a:solidFill>
                  <a:srgbClr val="F1F5F9"/>
                </a:solidFill>
              </a:rPr>
              <a:t>Final Normalized Schema — 3NF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400" y="998972"/>
            <a:ext cx="1024128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The decomposition removes redundancy while preserving relationships through primary and foreign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6576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53312"/>
            <a:ext cx="343814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BEFORE — FLAT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3108960" cy="1828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</a:rPr>
              <a:t>HOSTEL_RECORD
Student + Phone + Room + Warden + Fee
all stored together
→ repeated names
→ repeated room facts
→ anomalies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80160"/>
            <a:ext cx="70866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353312"/>
            <a:ext cx="686714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AFTER — 3NF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691640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Warden (warden_id, first_name, middle_name, last_name)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76272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Room (room_id, room_no, floor, type, capacity, status, warden_id FK)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60904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Student (student_id, first_name, middle_name, last_name, course, year, room_id FK)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145536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Fee_Payment (payment_id, amount, payment_date, due_date, payment_status, student_id FK)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630168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Complaint (complaint_id, complaint_date, description, status, student_id FK, warden_id FK)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114800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Visitor (visitor_id, visitor_name, visitor_date, student_id FK)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599432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</a:rPr>
              <a:t>Student_Phone / Student_Email / Warden_Phone / Warden_Email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5084064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</a:rPr>
              <a:t>Visitor_Phone / Complaint_Resolution / Visit_Purpose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310896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</a:rPr>
              <a:t>Result: redundancy ↓ • anomalies removed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5532120"/>
            <a:ext cx="640080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</a:rPr>
              <a:t>13 tables • PK/FK relationships enforce referential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1828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26-09-2026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6419088"/>
            <a:ext cx="45720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DBMS Cornerstone Project  •  Student Hostel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6419088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900" b="0">
                <a:solidFill>
                  <a:srgbClr val="CBD5E1"/>
                </a:solidFill>
              </a:rPr>
              <a:t>15</a:t>
            </a:r>
          </a:p>
        </p:txBody>
      </p:sp>
    </p:spTree>
  </p:cSld>
  <p:clrMapOvr>
    <a:masterClrMapping/>
  </p:clrMapOvr>
  <p:transition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You</a:t>
            </a:r>
          </a:p>
        </p:txBody>
      </p:sp>
      <p:sp>
        <p:nvSpPr>
          <p:cNvPr id="17" name="Subtitle 2"/>
          <p:cNvSpPr txBox="1">
            <a:spLocks/>
          </p:cNvSpPr>
          <p:nvPr/>
        </p:nvSpPr>
        <p:spPr>
          <a:xfrm>
            <a:off x="1595406" y="4400000"/>
            <a:ext cx="9215502" cy="6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400" i="1">
                <a:solidFill>
                  <a:srgbClr val="595959"/>
                </a:solidFill>
                <a:latin typeface="Tw Cen MT" pitchFamily="34" charset="0"/>
              </a:rPr>
              <a:t>Questions welcome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5849</Words>
  <Application>Microsoft Office PowerPoint</Application>
  <PresentationFormat>Widescreen</PresentationFormat>
  <Paragraphs>1080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Consolas</vt:lpstr>
      <vt:lpstr>Maiandra GD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saisrilaxmi7735@gmail.com</cp:lastModifiedBy>
  <cp:revision>41</cp:revision>
  <cp:lastPrinted>2023-06-09T04:58:36Z</cp:lastPrinted>
  <dcterms:created xsi:type="dcterms:W3CDTF">2019-12-14T03:50:52Z</dcterms:created>
  <dcterms:modified xsi:type="dcterms:W3CDTF">2026-09-30T08:01:03Z</dcterms:modified>
</cp:coreProperties>
</file>